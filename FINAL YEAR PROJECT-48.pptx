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65" r:id="rId3"/>
    <p:sldId id="257"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28A4F5-10A4-4059-A2A7-4E28A60EC475}" v="40" dt="2026-01-02T17:10:00.3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73" autoAdjust="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81B3E1E-0540-4104-8B5F-6338B602ED2B}" type="datetimeFigureOut">
              <a:rPr lang="en-IN" smtClean="0"/>
              <a:t>03-01-2026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2949918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1B3E1E-0540-4104-8B5F-6338B602ED2B}"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346252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181B3E1E-0540-4104-8B5F-6338B602ED2B}" type="datetimeFigureOut">
              <a:rPr lang="en-IN" smtClean="0"/>
              <a:t>03-01-2026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433840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431611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1B3E1E-0540-4104-8B5F-6338B602ED2B}"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2957203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1B3E1E-0540-4104-8B5F-6338B602ED2B}"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729324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1B3E1E-0540-4104-8B5F-6338B602ED2B}" type="datetimeFigureOut">
              <a:rPr lang="en-IN" smtClean="0"/>
              <a:t>03-01-2026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39100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760502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2850462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2093999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2195517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B52F356-DD37-4889-BD57-12A3C3737A51}"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24986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81B3E1E-0540-4104-8B5F-6338B602ED2B}" type="datetimeFigureOut">
              <a:rPr lang="en-IN" smtClean="0"/>
              <a:t>03-01-2026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2578604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81B3E1E-0540-4104-8B5F-6338B602ED2B}"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468686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81B3E1E-0540-4104-8B5F-6338B602ED2B}"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97581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1B3E1E-0540-4104-8B5F-6338B602ED2B}"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1247795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181B3E1E-0540-4104-8B5F-6338B602ED2B}" type="datetimeFigureOut">
              <a:rPr lang="en-IN" smtClean="0"/>
              <a:t>03-01-2026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7762327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1B3E1E-0540-4104-8B5F-6338B602ED2B}"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52F356-DD37-4889-BD57-12A3C3737A51}" type="slidenum">
              <a:rPr lang="en-IN" smtClean="0"/>
              <a:t>‹#›</a:t>
            </a:fld>
            <a:endParaRPr lang="en-IN"/>
          </a:p>
        </p:txBody>
      </p:sp>
    </p:spTree>
    <p:extLst>
      <p:ext uri="{BB962C8B-B14F-4D97-AF65-F5344CB8AC3E}">
        <p14:creationId xmlns:p14="http://schemas.microsoft.com/office/powerpoint/2010/main" val="3217962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81B3E1E-0540-4104-8B5F-6338B602ED2B}" type="datetimeFigureOut">
              <a:rPr lang="en-IN" smtClean="0"/>
              <a:t>03-01-2026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B52F356-DD37-4889-BD57-12A3C3737A51}" type="slidenum">
              <a:rPr lang="en-IN" smtClean="0"/>
              <a:t>‹#›</a:t>
            </a:fld>
            <a:endParaRPr lang="en-IN"/>
          </a:p>
        </p:txBody>
      </p:sp>
    </p:spTree>
    <p:extLst>
      <p:ext uri="{BB962C8B-B14F-4D97-AF65-F5344CB8AC3E}">
        <p14:creationId xmlns:p14="http://schemas.microsoft.com/office/powerpoint/2010/main" val="4285456880"/>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C555F-BAC6-70FE-BA8B-0CA0D51D94AB}"/>
              </a:ext>
            </a:extLst>
          </p:cNvPr>
          <p:cNvSpPr>
            <a:spLocks noGrp="1"/>
          </p:cNvSpPr>
          <p:nvPr>
            <p:ph type="ctrTitle"/>
          </p:nvPr>
        </p:nvSpPr>
        <p:spPr>
          <a:xfrm>
            <a:off x="4281054" y="1059873"/>
            <a:ext cx="6920345" cy="1828800"/>
          </a:xfrm>
        </p:spPr>
        <p:txBody>
          <a:bodyPr>
            <a:normAutofit/>
          </a:bodyPr>
          <a:lstStyle/>
          <a:p>
            <a:r>
              <a:rPr lang="en-US" sz="4000" dirty="0">
                <a:latin typeface="Times New Roman" panose="02020603050405020304" pitchFamily="18" charset="0"/>
                <a:cs typeface="Times New Roman" panose="02020603050405020304" pitchFamily="18" charset="0"/>
              </a:rPr>
              <a:t> FINAL PROJECT</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BFC8AA7-67F8-0AB0-143A-F255E209F30D}"/>
              </a:ext>
            </a:extLst>
          </p:cNvPr>
          <p:cNvSpPr>
            <a:spLocks noGrp="1"/>
          </p:cNvSpPr>
          <p:nvPr>
            <p:ph type="subTitle" idx="1"/>
          </p:nvPr>
        </p:nvSpPr>
        <p:spPr>
          <a:xfrm>
            <a:off x="6096000" y="3455556"/>
            <a:ext cx="4724400" cy="1729508"/>
          </a:xfrm>
        </p:spPr>
        <p:txBody>
          <a:bodyPr>
            <a:normAutofit/>
          </a:bodyPr>
          <a:lstStyle/>
          <a:p>
            <a:r>
              <a:rPr lang="en-US" dirty="0">
                <a:latin typeface="Times New Roman" panose="02020603050405020304" pitchFamily="18" charset="0"/>
                <a:cs typeface="Times New Roman" panose="02020603050405020304" pitchFamily="18" charset="0"/>
              </a:rPr>
              <a:t>                                                                                 221FA04117-P.Yesu babu</a:t>
            </a:r>
          </a:p>
          <a:p>
            <a:r>
              <a:rPr lang="en-US" dirty="0">
                <a:latin typeface="Times New Roman" panose="02020603050405020304" pitchFamily="18" charset="0"/>
                <a:cs typeface="Times New Roman" panose="02020603050405020304" pitchFamily="18" charset="0"/>
              </a:rPr>
              <a:t>                                                                                 221FA04141-D.Raja </a:t>
            </a:r>
            <a:r>
              <a:rPr lang="en-US" dirty="0" err="1">
                <a:latin typeface="Times New Roman" panose="02020603050405020304" pitchFamily="18" charset="0"/>
                <a:cs typeface="Times New Roman" panose="02020603050405020304" pitchFamily="18" charset="0"/>
              </a:rPr>
              <a:t>gopal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974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D796-BA3A-5924-0E3B-5DB7C046F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05790-DB09-1D71-2581-13E8850847E4}"/>
              </a:ext>
            </a:extLst>
          </p:cNvPr>
          <p:cNvSpPr>
            <a:spLocks noGrp="1"/>
          </p:cNvSpPr>
          <p:nvPr>
            <p:ph type="ctrTitle"/>
          </p:nvPr>
        </p:nvSpPr>
        <p:spPr>
          <a:xfrm>
            <a:off x="2608004" y="2890684"/>
            <a:ext cx="8915401" cy="1743661"/>
          </a:xfrm>
        </p:spPr>
        <p:txBody>
          <a:bodyPr>
            <a:normAutofit/>
          </a:bodyPr>
          <a:lstStyle/>
          <a:p>
            <a:r>
              <a:rPr lang="en-US" sz="3600" dirty="0">
                <a:latin typeface="Times New Roman" panose="02020603050405020304" pitchFamily="18" charset="0"/>
                <a:cs typeface="Times New Roman" panose="02020603050405020304" pitchFamily="18" charset="0"/>
              </a:rPr>
              <a:t>Traffic-Aware Routing Optimization for High-Demand Network Environments</a:t>
            </a:r>
            <a:endParaRPr lang="en-IN"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F942A05-0013-C556-2317-61B7ED9212D1}"/>
              </a:ext>
            </a:extLst>
          </p:cNvPr>
          <p:cNvSpPr txBox="1"/>
          <p:nvPr/>
        </p:nvSpPr>
        <p:spPr>
          <a:xfrm>
            <a:off x="1859973" y="1340427"/>
            <a:ext cx="8915400"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TITLE:-</a:t>
            </a:r>
            <a:endParaRPr lang="en-IN"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8536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D4989-988C-3A47-3C26-D72BDF09E51F}"/>
              </a:ext>
            </a:extLst>
          </p:cNvPr>
          <p:cNvSpPr>
            <a:spLocks noGrp="1"/>
          </p:cNvSpPr>
          <p:nvPr>
            <p:ph type="title"/>
          </p:nvPr>
        </p:nvSpPr>
        <p:spPr>
          <a:xfrm>
            <a:off x="-1908083" y="736504"/>
            <a:ext cx="7373701" cy="1827463"/>
          </a:xfrm>
        </p:spPr>
        <p:txBody>
          <a:bodyPr>
            <a:normAutofit/>
          </a:bodyPr>
          <a:lstStyle/>
          <a:p>
            <a:r>
              <a:rPr lang="en-US" sz="4400" dirty="0">
                <a:latin typeface="Times New Roman" panose="02020603050405020304" pitchFamily="18" charset="0"/>
                <a:cs typeface="Times New Roman" panose="02020603050405020304" pitchFamily="18" charset="0"/>
              </a:rPr>
              <a:t>ABSTRACT:</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1AA172-D777-FEC3-B403-D5ACB409B89A}"/>
              </a:ext>
            </a:extLst>
          </p:cNvPr>
          <p:cNvSpPr>
            <a:spLocks noGrp="1"/>
          </p:cNvSpPr>
          <p:nvPr>
            <p:ph sz="quarter" idx="13"/>
          </p:nvPr>
        </p:nvSpPr>
        <p:spPr/>
        <p:txBody>
          <a:bodyPr>
            <a:normAutofit fontScale="92500"/>
          </a:bodyPr>
          <a:lstStyle/>
          <a:p>
            <a:r>
              <a:rPr lang="en-US" dirty="0">
                <a:latin typeface="Times New Roman" panose="02020603050405020304" pitchFamily="18" charset="0"/>
                <a:cs typeface="Times New Roman" panose="02020603050405020304" pitchFamily="18" charset="0"/>
              </a:rPr>
              <a:t>High-demand network environments such as smart transportation systems, data centers, and software-defined networks experience frequent congestion due to dynamic and unpredictable traffic patterns. Conventional static routing mechanisms are ineffective in handling such conditions, leading to increased delay, poor resource utilization, and degraded Quality of Service (QoS).The proposed methodology integrates traffic data collection, preprocessing, congestion analysis, traffic prediction, and dynamic routing optimization. Real-time and historical traffic data are analyzed to detect congestion-prone regions, while machine learning models including Linear Regression (LR), K-Nearest Neighbors (KNN), Multilayer Perceptron (MLP), and Long Short-Term Memory (LSTM) are employed to predict future traffic conditions. Based on both current and predicted traffic states, a dynamic weighted graph is constructed, and traffic-aware routing algorithms are applied to select optimal paths that minimize congestion and delay.</a:t>
            </a:r>
            <a:endParaRPr lang="en-IN" dirty="0"/>
          </a:p>
        </p:txBody>
      </p:sp>
    </p:spTree>
    <p:extLst>
      <p:ext uri="{BB962C8B-B14F-4D97-AF65-F5344CB8AC3E}">
        <p14:creationId xmlns:p14="http://schemas.microsoft.com/office/powerpoint/2010/main" val="495277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45C3F-809C-338E-C629-5A21C1B7139B}"/>
              </a:ext>
            </a:extLst>
          </p:cNvPr>
          <p:cNvSpPr>
            <a:spLocks noGrp="1"/>
          </p:cNvSpPr>
          <p:nvPr>
            <p:ph type="title"/>
          </p:nvPr>
        </p:nvSpPr>
        <p:spPr>
          <a:xfrm>
            <a:off x="-644235" y="945573"/>
            <a:ext cx="6816436" cy="1257300"/>
          </a:xfrm>
        </p:spPr>
        <p:txBody>
          <a:bodyPr/>
          <a:lstStyle/>
          <a:p>
            <a:r>
              <a:rPr lang="en-IN" sz="4400" dirty="0">
                <a:latin typeface="Times New Roman" panose="02020603050405020304" pitchFamily="18" charset="0"/>
                <a:cs typeface="Times New Roman" panose="02020603050405020304" pitchFamily="18" charset="0"/>
              </a:rPr>
              <a:t>INTRODUCTIO</a:t>
            </a:r>
            <a:r>
              <a:rPr lang="en-IN" dirty="0">
                <a:latin typeface="Times New Roman" panose="02020603050405020304" pitchFamily="18" charset="0"/>
                <a:cs typeface="Times New Roman" panose="02020603050405020304" pitchFamily="18" charset="0"/>
              </a:rPr>
              <a:t>N</a:t>
            </a:r>
            <a:r>
              <a:rPr lang="en-IN" dirty="0"/>
              <a:t>:</a:t>
            </a:r>
          </a:p>
        </p:txBody>
      </p:sp>
      <p:sp>
        <p:nvSpPr>
          <p:cNvPr id="3" name="Content Placeholder 2">
            <a:extLst>
              <a:ext uri="{FF2B5EF4-FFF2-40B4-BE49-F238E27FC236}">
                <a16:creationId xmlns:a16="http://schemas.microsoft.com/office/drawing/2014/main" id="{06BC1F2F-3CD4-ECE2-3B3A-CAB2E9B7B200}"/>
              </a:ext>
            </a:extLst>
          </p:cNvPr>
          <p:cNvSpPr>
            <a:spLocks noGrp="1"/>
          </p:cNvSpPr>
          <p:nvPr>
            <p:ph sz="quarter" idx="13"/>
          </p:nvPr>
        </p:nvSpPr>
        <p:spPr>
          <a:xfrm>
            <a:off x="913774" y="2367092"/>
            <a:ext cx="10363826" cy="271618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High-demand network environments often experience congestion due to rapidly changing traffic conditions, which leads to increased delay and poor Quality of Service. Traditional routing methods fail to adapt to dynamic traffic patterns. Traffic-aware routing overcomes this limitation by using real-time and historical traffic information to make intelligent routing decisions. In this project, machine learning models are used to predict traffic conditions, and routing paths are optimized accordingly. The proposed traffic-aware routing optimization approach aims to reduce congestion, minimize delay, and improve overall network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307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4A0C-D6C0-728B-CAFE-C064DA698CA6}"/>
              </a:ext>
            </a:extLst>
          </p:cNvPr>
          <p:cNvSpPr>
            <a:spLocks noGrp="1"/>
          </p:cNvSpPr>
          <p:nvPr>
            <p:ph type="title"/>
          </p:nvPr>
        </p:nvSpPr>
        <p:spPr>
          <a:xfrm>
            <a:off x="716349" y="103910"/>
            <a:ext cx="9071888" cy="1018308"/>
          </a:xfrm>
        </p:spPr>
        <p:txBody>
          <a:bodyPr>
            <a:normAutofit/>
          </a:bodyPr>
          <a:lstStyle/>
          <a:p>
            <a:r>
              <a:rPr lang="en-IN" sz="3200" b="1" dirty="0">
                <a:latin typeface="Times New Roman" panose="02020603050405020304" pitchFamily="18" charset="0"/>
                <a:cs typeface="Times New Roman" panose="02020603050405020304" pitchFamily="18" charset="0"/>
              </a:rPr>
              <a:t>Gantt chart</a:t>
            </a:r>
            <a:r>
              <a:rPr lang="en-US" dirty="0"/>
              <a:t>:</a:t>
            </a:r>
            <a:endParaRPr lang="en-IN" dirty="0"/>
          </a:p>
        </p:txBody>
      </p:sp>
      <p:pic>
        <p:nvPicPr>
          <p:cNvPr id="10" name="Content Placeholder 9">
            <a:extLst>
              <a:ext uri="{FF2B5EF4-FFF2-40B4-BE49-F238E27FC236}">
                <a16:creationId xmlns:a16="http://schemas.microsoft.com/office/drawing/2014/main" id="{5B377D38-6C3D-930C-8750-D80284FDA62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716350" y="1199535"/>
            <a:ext cx="10010644" cy="5378246"/>
          </a:xfrm>
        </p:spPr>
      </p:pic>
    </p:spTree>
    <p:extLst>
      <p:ext uri="{BB962C8B-B14F-4D97-AF65-F5344CB8AC3E}">
        <p14:creationId xmlns:p14="http://schemas.microsoft.com/office/powerpoint/2010/main" val="275460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D2469-53C7-B914-D31F-A76CCAD20E1F}"/>
              </a:ext>
            </a:extLst>
          </p:cNvPr>
          <p:cNvSpPr>
            <a:spLocks noGrp="1"/>
          </p:cNvSpPr>
          <p:nvPr>
            <p:ph type="title"/>
          </p:nvPr>
        </p:nvSpPr>
        <p:spPr>
          <a:xfrm>
            <a:off x="-1081280" y="0"/>
            <a:ext cx="11503361" cy="703611"/>
          </a:xfrm>
        </p:spPr>
        <p:txBody>
          <a:bodyPr>
            <a:normAutofit/>
          </a:bodyPr>
          <a:lstStyle/>
          <a:p>
            <a:r>
              <a:rPr lang="en-IN" dirty="0">
                <a:latin typeface="Times New Roman" panose="02020603050405020304" pitchFamily="18" charset="0"/>
                <a:cs typeface="Times New Roman" panose="02020603050405020304" pitchFamily="18" charset="0"/>
              </a:rPr>
              <a:t>DATASET:</a:t>
            </a:r>
          </a:p>
        </p:txBody>
      </p:sp>
      <p:sp>
        <p:nvSpPr>
          <p:cNvPr id="5" name="Rectangle 2">
            <a:extLst>
              <a:ext uri="{FF2B5EF4-FFF2-40B4-BE49-F238E27FC236}">
                <a16:creationId xmlns:a16="http://schemas.microsoft.com/office/drawing/2014/main" id="{268254FB-B845-D180-1B78-C9CDA886A9F6}"/>
              </a:ext>
            </a:extLst>
          </p:cNvPr>
          <p:cNvSpPr>
            <a:spLocks noGrp="1" noChangeArrowheads="1"/>
          </p:cNvSpPr>
          <p:nvPr>
            <p:ph sz="quarter" idx="13"/>
          </p:nvPr>
        </p:nvSpPr>
        <p:spPr bwMode="auto">
          <a:xfrm>
            <a:off x="913773" y="2461070"/>
            <a:ext cx="1087990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1063E9-90B2-EE98-927E-CEEE7768FAA0}"/>
              </a:ext>
            </a:extLst>
          </p:cNvPr>
          <p:cNvPicPr>
            <a:picLocks noChangeAspect="1"/>
          </p:cNvPicPr>
          <p:nvPr/>
        </p:nvPicPr>
        <p:blipFill>
          <a:blip r:embed="rId2"/>
          <a:stretch>
            <a:fillRect/>
          </a:stretch>
        </p:blipFill>
        <p:spPr>
          <a:xfrm>
            <a:off x="545802" y="954344"/>
            <a:ext cx="10554818" cy="5676900"/>
          </a:xfrm>
          <a:prstGeom prst="rect">
            <a:avLst/>
          </a:prstGeom>
        </p:spPr>
      </p:pic>
    </p:spTree>
    <p:extLst>
      <p:ext uri="{BB962C8B-B14F-4D97-AF65-F5344CB8AC3E}">
        <p14:creationId xmlns:p14="http://schemas.microsoft.com/office/powerpoint/2010/main" val="287456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E13B5-4262-FA09-6B62-F61666CBF27B}"/>
              </a:ext>
            </a:extLst>
          </p:cNvPr>
          <p:cNvSpPr>
            <a:spLocks noGrp="1"/>
          </p:cNvSpPr>
          <p:nvPr>
            <p:ph type="title"/>
          </p:nvPr>
        </p:nvSpPr>
        <p:spPr>
          <a:xfrm>
            <a:off x="1600201" y="764373"/>
            <a:ext cx="6587835" cy="1230682"/>
          </a:xfrm>
        </p:spPr>
        <p:txBody>
          <a:bodyPr/>
          <a:lstStyle/>
          <a:p>
            <a:r>
              <a:rPr lang="en-US" dirty="0">
                <a:latin typeface="Times New Roman" panose="02020603050405020304" pitchFamily="18" charset="0"/>
                <a:cs typeface="Times New Roman" panose="02020603050405020304" pitchFamily="18" charset="0"/>
              </a:rPr>
              <a:t>DATASET EXPLANATION: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0999FA-6C98-892B-5588-C691A75C880D}"/>
              </a:ext>
            </a:extLst>
          </p:cNvPr>
          <p:cNvSpPr>
            <a:spLocks noGrp="1"/>
          </p:cNvSpPr>
          <p:nvPr>
            <p:ph sz="quarter" idx="13"/>
          </p:nvPr>
        </p:nvSpPr>
        <p:spPr>
          <a:xfrm>
            <a:off x="913774" y="2408903"/>
            <a:ext cx="10363826" cy="312665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Time: Time at which traffic conditions are recorded</a:t>
            </a:r>
          </a:p>
          <a:p>
            <a:pPr marL="0" indent="0">
              <a:buNone/>
            </a:pPr>
            <a:r>
              <a:rPr lang="en-US" sz="1800" dirty="0">
                <a:latin typeface="Times New Roman" panose="02020603050405020304" pitchFamily="18" charset="0"/>
                <a:cs typeface="Times New Roman" panose="02020603050405020304" pitchFamily="18" charset="0"/>
              </a:rPr>
              <a:t>Source: Starting node of the route in the network.</a:t>
            </a:r>
          </a:p>
          <a:p>
            <a:pPr marL="0" indent="0">
              <a:buNone/>
            </a:pPr>
            <a:r>
              <a:rPr lang="en-US" sz="1800" dirty="0">
                <a:latin typeface="Times New Roman" panose="02020603050405020304" pitchFamily="18" charset="0"/>
                <a:cs typeface="Times New Roman" panose="02020603050405020304" pitchFamily="18" charset="0"/>
              </a:rPr>
              <a:t>Destination: Ending node of the route in the network.</a:t>
            </a:r>
          </a:p>
          <a:p>
            <a:pPr marL="0" indent="0">
              <a:buNone/>
            </a:pPr>
            <a:r>
              <a:rPr lang="en-US" sz="1800" dirty="0" err="1">
                <a:latin typeface="Times New Roman" panose="02020603050405020304" pitchFamily="18" charset="0"/>
                <a:cs typeface="Times New Roman" panose="02020603050405020304" pitchFamily="18" charset="0"/>
              </a:rPr>
              <a:t>Speed_km_h</a:t>
            </a:r>
            <a:r>
              <a:rPr lang="en-US" sz="1800" dirty="0">
                <a:latin typeface="Times New Roman" panose="02020603050405020304" pitchFamily="18" charset="0"/>
                <a:cs typeface="Times New Roman" panose="02020603050405020304" pitchFamily="18" charset="0"/>
              </a:rPr>
              <a:t>: Average speed of vehicles on the route in kilometers per hour.</a:t>
            </a:r>
          </a:p>
          <a:p>
            <a:pPr marL="0" indent="0">
              <a:buNone/>
            </a:pPr>
            <a:r>
              <a:rPr lang="en-US" sz="1800" dirty="0">
                <a:latin typeface="Times New Roman" panose="02020603050405020304" pitchFamily="18" charset="0"/>
                <a:cs typeface="Times New Roman" panose="02020603050405020304" pitchFamily="18" charset="0"/>
              </a:rPr>
              <a:t>Density: Level of traffic on the route (Low, Medium, or High).</a:t>
            </a:r>
          </a:p>
          <a:p>
            <a:pPr marL="0" indent="0">
              <a:buNone/>
            </a:pPr>
            <a:r>
              <a:rPr lang="en-US" sz="1800" dirty="0">
                <a:latin typeface="Times New Roman" panose="02020603050405020304" pitchFamily="18" charset="0"/>
                <a:cs typeface="Times New Roman" panose="02020603050405020304" pitchFamily="18" charset="0"/>
              </a:rPr>
              <a:t>Congestion: Indicates whether the route is congested based on speed and density (Yes/No).</a:t>
            </a:r>
          </a:p>
          <a:p>
            <a:pPr marL="0" indent="0">
              <a:buNone/>
            </a:pPr>
            <a:r>
              <a:rPr lang="en-US" sz="1800" dirty="0" err="1">
                <a:latin typeface="Times New Roman" panose="02020603050405020304" pitchFamily="18" charset="0"/>
                <a:cs typeface="Times New Roman" panose="02020603050405020304" pitchFamily="18" charset="0"/>
              </a:rPr>
              <a:t>Delay_minutes</a:t>
            </a:r>
            <a:r>
              <a:rPr lang="en-US" sz="1800" dirty="0">
                <a:latin typeface="Times New Roman" panose="02020603050405020304" pitchFamily="18" charset="0"/>
                <a:cs typeface="Times New Roman" panose="02020603050405020304" pitchFamily="18" charset="0"/>
              </a:rPr>
              <a:t>: Time delay experienced on the route due to traffic conditions, measured in minutes.</a:t>
            </a:r>
          </a:p>
          <a:p>
            <a:pPr marL="0" indent="0">
              <a:buNone/>
            </a:pPr>
            <a:r>
              <a:rPr lang="en-US" sz="1800" dirty="0" err="1">
                <a:latin typeface="Times New Roman" panose="02020603050405020304" pitchFamily="18" charset="0"/>
                <a:cs typeface="Times New Roman" panose="02020603050405020304" pitchFamily="18" charset="0"/>
              </a:rPr>
              <a:t>Optimal_Route</a:t>
            </a:r>
            <a:r>
              <a:rPr lang="en-US" sz="1800" dirty="0">
                <a:latin typeface="Times New Roman" panose="02020603050405020304" pitchFamily="18" charset="0"/>
                <a:cs typeface="Times New Roman" panose="02020603050405020304" pitchFamily="18" charset="0"/>
              </a:rPr>
              <a:t>: Best selected path between source and destination that minimizes delay and congestion.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402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75FE-7094-E061-5B53-A48CA61B76AB}"/>
              </a:ext>
            </a:extLst>
          </p:cNvPr>
          <p:cNvSpPr>
            <a:spLocks noGrp="1"/>
          </p:cNvSpPr>
          <p:nvPr>
            <p:ph type="title"/>
          </p:nvPr>
        </p:nvSpPr>
        <p:spPr>
          <a:xfrm>
            <a:off x="2379519" y="764373"/>
            <a:ext cx="8250382" cy="1043645"/>
          </a:xfrm>
        </p:spPr>
        <p:txBody>
          <a:bodyPr>
            <a:normAutofit fontScale="90000"/>
          </a:bodyPr>
          <a:lstStyle/>
          <a:p>
            <a:r>
              <a:rPr lang="en-IN" dirty="0"/>
              <a:t>Dataset </a:t>
            </a:r>
            <a:r>
              <a:rPr lang="en-IN" dirty="0">
                <a:latin typeface="Times New Roman" panose="02020603050405020304" pitchFamily="18" charset="0"/>
                <a:cs typeface="Times New Roman" panose="02020603050405020304" pitchFamily="18" charset="0"/>
              </a:rPr>
              <a:t>Preparation</a:t>
            </a:r>
            <a:r>
              <a:rPr lang="en-IN" dirty="0"/>
              <a:t> Process:</a:t>
            </a:r>
          </a:p>
        </p:txBody>
      </p:sp>
      <p:sp>
        <p:nvSpPr>
          <p:cNvPr id="3" name="Content Placeholder 2">
            <a:extLst>
              <a:ext uri="{FF2B5EF4-FFF2-40B4-BE49-F238E27FC236}">
                <a16:creationId xmlns:a16="http://schemas.microsoft.com/office/drawing/2014/main" id="{535185CC-963E-E40B-0457-C857033B8C60}"/>
              </a:ext>
            </a:extLst>
          </p:cNvPr>
          <p:cNvSpPr>
            <a:spLocks noGrp="1"/>
          </p:cNvSpPr>
          <p:nvPr>
            <p:ph sz="quarter" idx="13"/>
          </p:nvPr>
        </p:nvSpPr>
        <p:spPr>
          <a:xfrm>
            <a:off x="816077" y="2113936"/>
            <a:ext cx="10461523" cy="4159046"/>
          </a:xfrm>
        </p:spPr>
        <p:txBody>
          <a:bodyPr>
            <a:noAutofit/>
          </a:bodyPr>
          <a:lstStyle/>
          <a:p>
            <a:r>
              <a:rPr lang="en-US" sz="1800" dirty="0">
                <a:latin typeface="Times New Roman" panose="02020603050405020304" pitchFamily="18" charset="0"/>
                <a:cs typeface="Times New Roman" panose="02020603050405020304" pitchFamily="18" charset="0"/>
              </a:rPr>
              <a:t>Problem Understanding: Defined traffic-aware routing requirements for high-demand networks.</a:t>
            </a:r>
          </a:p>
          <a:p>
            <a:r>
              <a:rPr lang="en-US" sz="1800" dirty="0">
                <a:latin typeface="Times New Roman" panose="02020603050405020304" pitchFamily="18" charset="0"/>
                <a:cs typeface="Times New Roman" panose="02020603050405020304" pitchFamily="18" charset="0"/>
              </a:rPr>
              <a:t>Attribute Selection: Identified essential traffic, routing, and performance features.</a:t>
            </a:r>
          </a:p>
          <a:p>
            <a:r>
              <a:rPr lang="en-US" sz="1800" dirty="0">
                <a:latin typeface="Times New Roman" panose="02020603050405020304" pitchFamily="18" charset="0"/>
                <a:cs typeface="Times New Roman" panose="02020603050405020304" pitchFamily="18" charset="0"/>
              </a:rPr>
              <a:t>Node Definition: Selected network nodes to represent source and destination point.</a:t>
            </a:r>
          </a:p>
          <a:p>
            <a:r>
              <a:rPr lang="en-US" sz="1800" dirty="0">
                <a:latin typeface="Times New Roman" panose="02020603050405020304" pitchFamily="18" charset="0"/>
                <a:cs typeface="Times New Roman" panose="02020603050405020304" pitchFamily="18" charset="0"/>
              </a:rPr>
              <a:t>Time Generation: Created time-based records to capture peak and off-peak traffic.</a:t>
            </a:r>
          </a:p>
          <a:p>
            <a:r>
              <a:rPr lang="en-US" sz="1800" dirty="0">
                <a:latin typeface="Times New Roman" panose="02020603050405020304" pitchFamily="18" charset="0"/>
                <a:cs typeface="Times New Roman" panose="02020603050405020304" pitchFamily="18" charset="0"/>
              </a:rPr>
              <a:t>Traffic Simulation: Generated realistic speed and density values.</a:t>
            </a:r>
          </a:p>
          <a:p>
            <a:r>
              <a:rPr lang="en-US" sz="1800" dirty="0">
                <a:latin typeface="Times New Roman" panose="02020603050405020304" pitchFamily="18" charset="0"/>
                <a:cs typeface="Times New Roman" panose="02020603050405020304" pitchFamily="18" charset="0"/>
              </a:rPr>
              <a:t>Congestion Labeling: Determined congestion using speed and density thresholds.</a:t>
            </a:r>
          </a:p>
          <a:p>
            <a:r>
              <a:rPr lang="en-US" sz="1800" dirty="0">
                <a:latin typeface="Times New Roman" panose="02020603050405020304" pitchFamily="18" charset="0"/>
                <a:cs typeface="Times New Roman" panose="02020603050405020304" pitchFamily="18" charset="0"/>
              </a:rPr>
              <a:t>Delay Assignment: Assigned delay in minutes based on congestion level.</a:t>
            </a:r>
          </a:p>
          <a:p>
            <a:r>
              <a:rPr lang="en-US" sz="1800" dirty="0">
                <a:latin typeface="Times New Roman" panose="02020603050405020304" pitchFamily="18" charset="0"/>
                <a:cs typeface="Times New Roman" panose="02020603050405020304" pitchFamily="18" charset="0"/>
              </a:rPr>
              <a:t>Route Selection: Chose optimal routes minimizing congestion and delay.</a:t>
            </a:r>
          </a:p>
          <a:p>
            <a:r>
              <a:rPr lang="en-US" sz="1800" dirty="0">
                <a:latin typeface="Times New Roman" panose="02020603050405020304" pitchFamily="18" charset="0"/>
                <a:cs typeface="Times New Roman" panose="02020603050405020304" pitchFamily="18" charset="0"/>
              </a:rPr>
              <a:t>Data Validation: Verified consistency and logical correctness of records.</a:t>
            </a:r>
          </a:p>
          <a:p>
            <a:r>
              <a:rPr lang="en-US" sz="1800" dirty="0">
                <a:latin typeface="Times New Roman" panose="02020603050405020304" pitchFamily="18" charset="0"/>
                <a:cs typeface="Times New Roman" panose="02020603050405020304" pitchFamily="18" charset="0"/>
              </a:rPr>
              <a:t>Dataset Storage: Stored the finalized dataset in Excel format with 10,000 samples.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4454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8025-1C0F-5D8A-2F40-1C2014B32E96}"/>
              </a:ext>
            </a:extLst>
          </p:cNvPr>
          <p:cNvSpPr>
            <a:spLocks noGrp="1"/>
          </p:cNvSpPr>
          <p:nvPr>
            <p:ph type="title"/>
          </p:nvPr>
        </p:nvSpPr>
        <p:spPr>
          <a:xfrm>
            <a:off x="1922318" y="764373"/>
            <a:ext cx="8333509" cy="1344982"/>
          </a:xfrm>
        </p:spPr>
        <p:txBody>
          <a:bodyPr/>
          <a:lstStyle/>
          <a:p>
            <a:r>
              <a:rPr lang="en-US" dirty="0">
                <a:latin typeface="Times New Roman" panose="02020603050405020304" pitchFamily="18" charset="0"/>
                <a:cs typeface="Times New Roman" panose="02020603050405020304" pitchFamily="18" charset="0"/>
              </a:rPr>
              <a:t>Why This Dataset Is Suitable?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59CDE5-33C0-A1E8-1E53-175F0A2A9467}"/>
              </a:ext>
            </a:extLst>
          </p:cNvPr>
          <p:cNvSpPr>
            <a:spLocks noGrp="1"/>
          </p:cNvSpPr>
          <p:nvPr>
            <p:ph sz="quarter" idx="13"/>
          </p:nvPr>
        </p:nvSpPr>
        <p:spPr>
          <a:xfrm>
            <a:off x="913774" y="2367092"/>
            <a:ext cx="10363826" cy="2863669"/>
          </a:xfrm>
        </p:spPr>
        <p:txBody>
          <a:bodyPr/>
          <a:lstStyle/>
          <a:p>
            <a:r>
              <a:rPr lang="en-US" dirty="0">
                <a:latin typeface="Times New Roman" panose="02020603050405020304" pitchFamily="18" charset="0"/>
                <a:cs typeface="Times New Roman" panose="02020603050405020304" pitchFamily="18" charset="0"/>
              </a:rPr>
              <a:t>It captures real-time traffic conditions such as speed, density, and congestion.</a:t>
            </a:r>
          </a:p>
          <a:p>
            <a:r>
              <a:rPr lang="en-US" dirty="0">
                <a:latin typeface="Times New Roman" panose="02020603050405020304" pitchFamily="18" charset="0"/>
                <a:cs typeface="Times New Roman" panose="02020603050405020304" pitchFamily="18" charset="0"/>
              </a:rPr>
              <a:t>It represents high-demand network scenarios through varying traffic loads.</a:t>
            </a:r>
          </a:p>
          <a:p>
            <a:r>
              <a:rPr lang="en-US" dirty="0">
                <a:latin typeface="Times New Roman" panose="02020603050405020304" pitchFamily="18" charset="0"/>
                <a:cs typeface="Times New Roman" panose="02020603050405020304" pitchFamily="18" charset="0"/>
              </a:rPr>
              <a:t>It includes delay information, which is essential for routing optimization.</a:t>
            </a:r>
          </a:p>
          <a:p>
            <a:r>
              <a:rPr lang="en-US" dirty="0">
                <a:latin typeface="Times New Roman" panose="02020603050405020304" pitchFamily="18" charset="0"/>
                <a:cs typeface="Times New Roman" panose="02020603050405020304" pitchFamily="18" charset="0"/>
              </a:rPr>
              <a:t>It supports dynamic route selection using time-based data.</a:t>
            </a:r>
          </a:p>
          <a:p>
            <a:r>
              <a:rPr lang="en-US" dirty="0">
                <a:latin typeface="Times New Roman" panose="02020603050405020304" pitchFamily="18" charset="0"/>
                <a:cs typeface="Times New Roman" panose="02020603050405020304" pitchFamily="18" charset="0"/>
              </a:rPr>
              <a:t>It can be directly used for traffic-aware routing and congestion analysis.</a:t>
            </a:r>
          </a:p>
          <a:p>
            <a:r>
              <a:rPr lang="en-US" dirty="0">
                <a:latin typeface="Times New Roman" panose="02020603050405020304" pitchFamily="18" charset="0"/>
                <a:cs typeface="Times New Roman" panose="02020603050405020304" pitchFamily="18" charset="0"/>
              </a:rPr>
              <a:t>It is suitable for machine learning and optimization algorithms.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69666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221</TotalTime>
  <Words>597</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Times New Roman</vt:lpstr>
      <vt:lpstr>Vapor Trail</vt:lpstr>
      <vt:lpstr> FINAL PROJECT</vt:lpstr>
      <vt:lpstr>Traffic-Aware Routing Optimization for High-Demand Network Environments</vt:lpstr>
      <vt:lpstr>ABSTRACT:</vt:lpstr>
      <vt:lpstr>INTRODUCTION:</vt:lpstr>
      <vt:lpstr>Gantt chart:</vt:lpstr>
      <vt:lpstr>DATASET:</vt:lpstr>
      <vt:lpstr>DATASET EXPLANATION:</vt:lpstr>
      <vt:lpstr>Dataset Preparation Process:</vt:lpstr>
      <vt:lpstr>Why This Dataset Is Suitable?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Lakshmi Srigakolapu</dc:creator>
  <cp:lastModifiedBy>Raja Gopal Devarapalli</cp:lastModifiedBy>
  <cp:revision>7</cp:revision>
  <dcterms:created xsi:type="dcterms:W3CDTF">2026-01-01T14:41:14Z</dcterms:created>
  <dcterms:modified xsi:type="dcterms:W3CDTF">2026-01-03T06:08:45Z</dcterms:modified>
</cp:coreProperties>
</file>